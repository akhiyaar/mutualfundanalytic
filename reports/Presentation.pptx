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0A5FA"/>
                </a:solidFill>
              </a:defRPr>
            </a:pPr>
            <a:r>
              <a:t>BLUESTOCKS MUTUAL FUND</a:t>
            </a:r>
          </a:p>
          <a:p>
            <a:pPr algn="ctr">
              <a:defRPr sz="2400">
                <a:solidFill>
                  <a:srgbClr val="F9FAFB"/>
                </a:solidFill>
              </a:defRPr>
            </a:pPr>
            <a:r>
              <a:t>Advanced Quantitative &amp; Risk Portfolio Analytics</a:t>
            </a:r>
          </a:p>
          <a:p>
            <a:br/>
            <a:pPr algn="ctr">
              <a:defRPr sz="1400">
                <a:solidFill>
                  <a:srgbClr val="9CA3AF"/>
                </a:solidFill>
              </a:defRPr>
            </a:pPr>
            <a:r>
              <a:t>Prepared by Bluestocks Analytics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Data Ingestion &amp; Inherent Quality Anomalies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4D399"/>
                </a:solidFill>
              </a:defRPr>
            </a:pPr>
            <a:r>
              <a:t>•  Raw Ingestion Specs: </a:t>
            </a:r>
            <a:r>
              <a:rPr sz="1400" b="0">
                <a:solidFill>
                  <a:srgbClr val="F9FAFB"/>
                </a:solidFill>
              </a:rPr>
              <a:t>Successfully ingested historical daily NAV (73K+ rows) across 40 schemes (2022-2026), transactions, demographics, and holdings.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100x Decimal Shift Anomaly: </a:t>
            </a:r>
            <a:r>
              <a:rPr sz="1400" b="0">
                <a:solidFill>
                  <a:srgbClr val="F9FAFB"/>
                </a:solidFill>
              </a:rPr>
              <a:t>Detected decimal formatting shift in Axis ELSS Tax Saver (represented as HDFC Money Market prior to 30-08-2015). Cleaned programmatically by 100x multiplication.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Zero NAV Anomalies: </a:t>
            </a:r>
            <a:r>
              <a:rPr sz="1400" b="0">
                <a:solidFill>
                  <a:srgbClr val="F9FAFB"/>
                </a:solidFill>
              </a:rPr>
              <a:t>Identified erroneous zero NAV value for Axis ELSS Tax Saver on 07-04-2013. Resolved via linear interpolation using neighboring entries.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Holiday / Weekend NAV Gap Handling: </a:t>
            </a:r>
            <a:r>
              <a:rPr sz="1400" b="0">
                <a:solidFill>
                  <a:srgbClr val="F9FAFB"/>
                </a:solidFill>
              </a:rPr>
              <a:t>Corrected calendar gaps by reindexing NAV series to complete date range, then applying forward-fill (ffill) to preserve holiday NAV 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Performance Metrics &amp; OLS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4D399"/>
                </a:solidFill>
              </a:defRPr>
            </a:pPr>
            <a:r>
              <a:t>•  Compounded Growth (CAGR): </a:t>
            </a:r>
            <a:r>
              <a:rPr sz="1400" b="0">
                <a:solidFill>
                  <a:srgbClr val="F9FAFB"/>
                </a:solidFill>
              </a:rPr>
              <a:t>Calculated 1-yr, 3-yr, and 5-yr CAGR. Annualization handled correctly using trading days (252) rather than calendar days.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Risk-Adjusted Ratios: </a:t>
            </a:r>
            <a:r>
              <a:rPr sz="1400" b="0">
                <a:solidFill>
                  <a:srgbClr val="F9FAFB"/>
                </a:solidFill>
              </a:rPr>
              <a:t>Evaluated Sharpe and Sortino ratios using the RBI Repo Rate (6.5%) as risk-free proxy. Sharpe ranges reveal superior efficiency in debt/liquid schemes.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OLS Regression (Alpha &amp; Beta): </a:t>
            </a:r>
            <a:r>
              <a:rPr sz="1400" b="0">
                <a:solidFill>
                  <a:srgbClr val="F9FAFB"/>
                </a:solidFill>
              </a:rPr>
              <a:t>Regressed fund excess returns on Nifty 100 benchmark. Captured structural market beta and idiosyncratic alpha across all equity schemes.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Maximum Drawdown Analysis: </a:t>
            </a:r>
            <a:r>
              <a:rPr sz="1400" b="0">
                <a:solidFill>
                  <a:srgbClr val="F9FAFB"/>
                </a:solidFill>
              </a:rPr>
              <a:t>Tracked peak-to-trough drop depth and dates, highlighting fund resiliency during the 2024 mid-year market corrections.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Value at Risk (VaR) &amp; Conditional VaR (CVaR)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4D399"/>
                </a:solidFill>
              </a:defRPr>
            </a:pPr>
            <a:r>
              <a:t>•  Historical VaR (95%): </a:t>
            </a:r>
            <a:r>
              <a:rPr sz="1400" b="0">
                <a:solidFill>
                  <a:srgbClr val="F9FAFB"/>
                </a:solidFill>
              </a:rPr>
              <a:t>Calculated as the 5th percentile of daily returns distribution. Highlights the threshold of potential daily portfolio losses with 95% confidence.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Conditional VaR (CVaR): </a:t>
            </a:r>
            <a:r>
              <a:rPr sz="1400" b="0">
                <a:solidFill>
                  <a:srgbClr val="F9FAFB"/>
                </a:solidFill>
              </a:rPr>
              <a:t>Calculated as the mean of daily returns below the 95% VaR threshold. Quantifies the tail-risk expected loss under extreme market conditions.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High-Risk Schemes: </a:t>
            </a:r>
            <a:r>
              <a:rPr sz="1400" b="0">
                <a:solidFill>
                  <a:srgbClr val="F9FAFB"/>
                </a:solidFill>
              </a:rPr>
              <a:t>Small-cap, mid-cap, and sectoral thematic schemes (e.g., Tata Digital India, quant Mid/Small Cap) show highest VaR/CVaR, demonstrating equity volatility.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Low-Risk Schemes: </a:t>
            </a:r>
            <a:r>
              <a:rPr sz="1400" b="0">
                <a:solidFill>
                  <a:srgbClr val="F9FAFB"/>
                </a:solidFill>
              </a:rPr>
              <a:t>Debt and Liquid funds (e.g. Axis Liquid Fund) show VaR/CVaR close to 0%, proving cash-like properties and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Investor Cohort &amp; SIP Continuity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4D399"/>
                </a:solidFill>
              </a:defRPr>
            </a:pPr>
            <a:r>
              <a:t>•  First-Transaction Cohorts: </a:t>
            </a:r>
            <a:r>
              <a:rPr sz="1400" b="0">
                <a:solidFill>
                  <a:srgbClr val="F9FAFB"/>
                </a:solidFill>
              </a:rPr>
              <a:t>Grouped investors by initial transaction year (2022-2025). Evaluated cohort total investments, average SIP size, and preference.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2022 Cohort Dominance: </a:t>
            </a:r>
            <a:r>
              <a:rPr sz="1400" b="0">
                <a:solidFill>
                  <a:srgbClr val="F9FAFB"/>
                </a:solidFill>
              </a:rPr>
              <a:t>The 2022 cohort contributed the largest cumulative investment volume, acting as the bedrock of the fund family's assets.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SIP Gap and Continuity: </a:t>
            </a:r>
            <a:r>
              <a:rPr sz="1400" b="0">
                <a:solidFill>
                  <a:srgbClr val="F9FAFB"/>
                </a:solidFill>
              </a:rPr>
              <a:t>Computed gaps between successive SIP dates for investors with 6+ SIPs. Gaps averaged &gt; 35 days, indicating irregular systematic participation.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At-Risk Client Flagging: </a:t>
            </a:r>
            <a:r>
              <a:rPr sz="1400" b="0">
                <a:solidFill>
                  <a:srgbClr val="F9FAFB"/>
                </a:solidFill>
              </a:rPr>
              <a:t>Every investor with 6+ SIPs was flagged as 'at-risk' due to persistent payment gaps, highlighting clear operational vulnerability.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Sector Concentration (HHI) for Equity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4D399"/>
                </a:solidFill>
              </a:defRPr>
            </a:pPr>
            <a:r>
              <a:t>•  HHI Concentration Index: </a:t>
            </a:r>
            <a:r>
              <a:rPr sz="1400" b="0">
                <a:solidFill>
                  <a:srgbClr val="F9FAFB"/>
                </a:solidFill>
              </a:rPr>
              <a:t>Computed Herfindahl-Hirschman Index: HHI = Σ(weight_i)^2 across sectors. High HHI signifies highly concentrated sector holdings.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HHI Scale &amp; Benchmark: </a:t>
            </a:r>
            <a:r>
              <a:rPr sz="1400" b="0">
                <a:solidFill>
                  <a:srgbClr val="F9FAFB"/>
                </a:solidFill>
              </a:rPr>
              <a:t>Compared HHI in percentage (0-10,000) and decimal (0-1.0) scales, providing clear reference points for portfolio risk assessment.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Diversified vs Concentrated: </a:t>
            </a:r>
            <a:r>
              <a:rPr sz="1400" b="0">
                <a:solidFill>
                  <a:srgbClr val="F9FAFB"/>
                </a:solidFill>
              </a:rPr>
              <a:t>Funds focusing heavily on single sectors (e.g. financial services or power) show elevated HHIs, indicating higher sector concentration risk.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Risk Takeaway: </a:t>
            </a:r>
            <a:r>
              <a:rPr sz="1400" b="0">
                <a:solidFill>
                  <a:srgbClr val="F9FAFB"/>
                </a:solidFill>
              </a:rPr>
              <a:t>Lower HHI values correspond to broader sector diversification, spreading holdings across 7-10 distinct industries to reduce idiosyncratic shocks.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0A5FA"/>
                </a:solidFill>
              </a:defRPr>
            </a:pPr>
            <a:r>
              <a:t>Recommendations &amp; Strategic Action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34D399"/>
                </a:solidFill>
              </a:defRPr>
            </a:pPr>
            <a:r>
              <a:t>•  Recommender Algorithm Integration: </a:t>
            </a:r>
            <a:r>
              <a:rPr sz="1400" b="0">
                <a:solidFill>
                  <a:srgbClr val="F9FAFB"/>
                </a:solidFill>
              </a:rPr>
              <a:t>Deploy the CLI recommender script to rank funds within Low, Moderate, High risk grades dynamically based on Sharpe ratios.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Fixing the Sharpe liquid-fund anomaly: </a:t>
            </a:r>
            <a:r>
              <a:rPr sz="1400" b="0">
                <a:solidFill>
                  <a:srgbClr val="F9FAFB"/>
                </a:solidFill>
              </a:rPr>
              <a:t>Introduce a standard volatility threshold or risk-free rate adjustment to filter out liquid funds from crowding raw Sharpe ranking lists.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Mitigating Operational SIP Gaps: </a:t>
            </a:r>
            <a:r>
              <a:rPr sz="1400" b="0">
                <a:solidFill>
                  <a:srgbClr val="F9FAFB"/>
                </a:solidFill>
              </a:rPr>
              <a:t>Address the 'at-risk' status of 6+ transaction investors. Introduce auto-debit triggers and notifications to decrease transaction gaps under 30 days.</a:t>
            </a:r>
          </a:p>
          <a:p>
            <a:pPr>
              <a:defRPr sz="1600" b="1">
                <a:solidFill>
                  <a:srgbClr val="34D399"/>
                </a:solidFill>
              </a:defRPr>
            </a:pPr>
            <a:r>
              <a:t>•  Sector Allocation Rebalancing: </a:t>
            </a:r>
            <a:r>
              <a:rPr sz="1400" b="0">
                <a:solidFill>
                  <a:srgbClr val="F9FAFB"/>
                </a:solidFill>
              </a:rPr>
              <a:t>Equity schemes with high HHI should be monitored closely to ensure sector-specific downturns do not lead to outsized tail losses.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